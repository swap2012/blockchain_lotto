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BLOCKLOTTO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Revolutionizing Lotteries with Blockchain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0972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920240" cy="118872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💰 Poor Returns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Only 50% to prizes</a:t>
            </a:r>
          </a:p>
          <a:p>
            <a:r>
              <a:t>vs 85% BlockLotto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097280"/>
            <a:ext cx="1920240" cy="118872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28016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🔒 No Transparency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373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Opaque draws</a:t>
            </a:r>
          </a:p>
          <a:p>
            <a:r>
              <a:t>No verification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1920240" cy="118872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⏰ Slow Payouts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Weeks to months</a:t>
            </a:r>
          </a:p>
          <a:p>
            <a:r>
              <a:t>vs Instant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2468880"/>
            <a:ext cx="1920240" cy="118872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65176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🌍 Geographic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1089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Restricted access</a:t>
            </a:r>
          </a:p>
          <a:p>
            <a:r>
              <a:t>vs Global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097280"/>
            <a:ext cx="4114800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$350B</a:t>
            </a:r>
          </a:p>
          <a:p>
            <a:pPr algn="ctr">
              <a:defRPr sz="3600" b="1">
                <a:solidFill>
                  <a:srgbClr val="667EEA"/>
                </a:solidFill>
              </a:defRPr>
            </a:pPr>
            <a:r>
              <a:t>Global Lottery Market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BLOCKLOTTO SOLUTION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88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3748"/>
                </a:solidFill>
              </a:defRPr>
            </a:pPr>
            <a:r>
              <a:t>85% to Prizes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6304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35% more than traditional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3748"/>
                </a:solidFill>
              </a:defRPr>
            </a:pPr>
            <a:r>
              <a:t>Instant Payouts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9456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Seconds, not weeks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51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3748"/>
                </a:solidFill>
              </a:defRPr>
            </a:pPr>
            <a:r>
              <a:t>Verifiable Random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92608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Chainlink VRF proof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290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3832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3748"/>
                </a:solidFill>
              </a:defRPr>
            </a:pPr>
            <a:r>
              <a:t>Global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65760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No geographic limits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097280"/>
            <a:ext cx="3657600" cy="274320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1280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3748"/>
                </a:solidFill>
              </a:defRPr>
            </a:pPr>
            <a:r>
              <a:t>🎨 NFT Collectibles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1828800"/>
            <a:ext cx="3291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2D3748"/>
                </a:solidFill>
              </a:defRPr>
            </a:pPr>
            <a:r>
              <a:t>Each ticket is a unique NFT with:</a:t>
            </a:r>
          </a:p>
          <a:p>
            <a:pPr>
              <a:spcBef>
                <a:spcPts val="600"/>
              </a:spcBef>
              <a:defRPr sz="12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200">
                <a:solidFill>
                  <a:srgbClr val="2D3748"/>
                </a:solidFill>
              </a:defRPr>
            </a:pPr>
            <a:r>
              <a:t>• Generative art</a:t>
            </a:r>
          </a:p>
          <a:p>
            <a:pPr>
              <a:spcBef>
                <a:spcPts val="600"/>
              </a:spcBef>
              <a:defRPr sz="1200">
                <a:solidFill>
                  <a:srgbClr val="2D3748"/>
                </a:solidFill>
              </a:defRPr>
            </a:pPr>
            <a:r>
              <a:t>• Rarity system (1-60%)</a:t>
            </a:r>
          </a:p>
          <a:p>
            <a:pPr>
              <a:spcBef>
                <a:spcPts val="600"/>
              </a:spcBef>
              <a:defRPr sz="1200">
                <a:solidFill>
                  <a:srgbClr val="2D3748"/>
                </a:solidFill>
              </a:defRPr>
            </a:pPr>
            <a:r>
              <a:t>• Secondary market value</a:t>
            </a:r>
          </a:p>
          <a:p>
            <a:pPr>
              <a:spcBef>
                <a:spcPts val="600"/>
              </a:spcBef>
              <a:defRPr sz="1200">
                <a:solidFill>
                  <a:srgbClr val="2D3748"/>
                </a:solidFill>
              </a:defRPr>
            </a:pPr>
            <a:r>
              <a:t>• 5% royalties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554480" cy="2286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3716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Connect Wallet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8" y="2286000"/>
            <a:ext cx="9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D3748"/>
                </a:solidFill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39" y="1371600"/>
            <a:ext cx="1554480" cy="22860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79" y="1828800"/>
            <a:ext cx="13716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Select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1607" y="2286000"/>
            <a:ext cx="9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D3748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79" y="1371600"/>
            <a:ext cx="1554480" cy="2286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19" y="1828800"/>
            <a:ext cx="13716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Buy Ticket (NFT)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3247" y="2286000"/>
            <a:ext cx="9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D3748"/>
                </a:solidFill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1371600"/>
            <a:ext cx="1554480" cy="22860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59" y="1828800"/>
            <a:ext cx="13716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Automatic Draw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   (Chainlink VRF)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2286000"/>
            <a:ext cx="9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D3748"/>
                </a:solidFill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59" y="1371600"/>
            <a:ext cx="1554480" cy="2286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199" y="1828800"/>
            <a:ext cx="13716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 Instant Prize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   Claim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1">
                <a:solidFill>
                  <a:srgbClr val="667EEA"/>
                </a:solidFill>
              </a:defRPr>
            </a:pPr>
            <a:r>
              <a:t>$350B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D3748"/>
                </a:solidFill>
              </a:defRPr>
            </a:pPr>
            <a:r>
              <a:t>Global Lottery Market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097280"/>
            <a:ext cx="365760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1887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3748"/>
                </a:solidFill>
              </a:defRPr>
            </a:pPr>
            <a:r>
              <a:t>0.1%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18872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7EEA"/>
                </a:solidFill>
              </a:defRPr>
            </a:pPr>
            <a:r>
              <a:t>$350M Annual Volume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920240"/>
            <a:ext cx="365760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0116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3748"/>
                </a:solidFill>
              </a:defRPr>
            </a:pPr>
            <a:r>
              <a:t>21% CAGR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7EEA"/>
                </a:solidFill>
              </a:defRPr>
            </a:pPr>
            <a:r>
              <a:t>Market Growth to 2030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743200"/>
            <a:ext cx="365760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8346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3748"/>
                </a:solidFill>
              </a:defRPr>
            </a:pPr>
            <a:r>
              <a:t>1B+ People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346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7EEA"/>
                </a:solidFill>
              </a:defRPr>
            </a:pPr>
            <a:r>
              <a:t>Play Lotteries Annually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3200400" cy="54864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85%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Prizes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3200400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331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Protocol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017520"/>
            <a:ext cx="3200400" cy="548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54679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15467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Reserves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18872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2D3748"/>
                </a:solidFill>
              </a:defRPr>
            </a:pPr>
            <a:r>
              <a:t>Revenue Streams:</a:t>
            </a:r>
          </a:p>
          <a:p>
            <a:pPr>
              <a:spcBef>
                <a:spcPts val="800"/>
              </a:spcBef>
              <a:defRPr sz="14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400">
                <a:solidFill>
                  <a:srgbClr val="2D3748"/>
                </a:solidFill>
              </a:defRPr>
            </a:pPr>
            <a:r>
              <a:t>• Ticket sales (10%)</a:t>
            </a:r>
          </a:p>
          <a:p>
            <a:pPr>
              <a:spcBef>
                <a:spcPts val="800"/>
              </a:spcBef>
              <a:defRPr sz="1400">
                <a:solidFill>
                  <a:srgbClr val="2D3748"/>
                </a:solidFill>
              </a:defRPr>
            </a:pPr>
            <a:r>
              <a:t>• Token appreciation</a:t>
            </a:r>
          </a:p>
          <a:p>
            <a:pPr>
              <a:spcBef>
                <a:spcPts val="800"/>
              </a:spcBef>
              <a:defRPr sz="1400">
                <a:solidFill>
                  <a:srgbClr val="2D3748"/>
                </a:solidFill>
              </a:defRPr>
            </a:pPr>
            <a:r>
              <a:t>• NFT royalties (5%)</a:t>
            </a:r>
          </a:p>
          <a:p>
            <a:pPr>
              <a:spcBef>
                <a:spcPts val="800"/>
              </a:spcBef>
              <a:defRPr sz="1400">
                <a:solidFill>
                  <a:srgbClr val="2D3748"/>
                </a:solidFill>
              </a:defRPr>
            </a:pPr>
            <a:r>
              <a:t>• White-label B2B</a:t>
            </a:r>
          </a:p>
          <a:p>
            <a:pPr>
              <a:spcBef>
                <a:spcPts val="800"/>
              </a:spcBef>
              <a:defRPr sz="1400">
                <a:solidFill>
                  <a:srgbClr val="2D3748"/>
                </a:solidFill>
              </a:defRPr>
            </a:pPr>
            <a:r>
              <a:t>• Advertising (NFT)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FINANCIAL PROJECTIONS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828800" cy="4572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2743200" y="1371600"/>
            <a:ext cx="1828800" cy="4572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463040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Year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371600"/>
            <a:ext cx="1828800" cy="4572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463040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Year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1828800" cy="4572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Year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1828800"/>
            <a:ext cx="182880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920240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2D3748"/>
                </a:solidFill>
              </a:defRPr>
            </a:pPr>
            <a:r>
              <a:t>Users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828800"/>
            <a:ext cx="182880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1920240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D3748"/>
                </a:solidFill>
              </a:defRPr>
            </a:pPr>
            <a:r>
              <a:t>10K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828800"/>
            <a:ext cx="182880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920240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D3748"/>
                </a:solidFill>
              </a:defRPr>
            </a:pPr>
            <a:r>
              <a:t>50K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828800"/>
            <a:ext cx="182880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920240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D3748"/>
                </a:solidFill>
              </a:defRPr>
            </a:pPr>
            <a:r>
              <a:t>250K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22860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377440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2D3748"/>
                </a:solidFill>
              </a:defRPr>
            </a:pPr>
            <a:r>
              <a:t>Revenue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2860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2377440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D3748"/>
                </a:solidFill>
              </a:defRPr>
            </a:pPr>
            <a:r>
              <a:t>$150K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22860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2377440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D3748"/>
                </a:solidFill>
              </a:defRPr>
            </a:pPr>
            <a:r>
              <a:t>$1.3M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2860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377440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D3748"/>
                </a:solidFill>
              </a:defRPr>
            </a:pPr>
            <a:r>
              <a:t>$3.3M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2743200"/>
            <a:ext cx="182880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2834640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2D3748"/>
                </a:solidFill>
              </a:defRPr>
            </a:pPr>
            <a:r>
              <a:t>Token MC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2743200"/>
            <a:ext cx="182880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2834640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D3748"/>
                </a:solidFill>
              </a:defRPr>
            </a:pPr>
            <a:r>
              <a:t>$5M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2743200"/>
            <a:ext cx="182880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2834640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D3748"/>
                </a:solidFill>
              </a:defRPr>
            </a:pPr>
            <a:r>
              <a:t>$25M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743200"/>
            <a:ext cx="182880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834640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D3748"/>
                </a:solidFill>
              </a:defRPr>
            </a:pPr>
            <a:r>
              <a:t>$75M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1645920"/>
            <a:ext cx="274320" cy="27432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67EEA"/>
                </a:solidFill>
              </a:defRPr>
            </a:pPr>
            <a:r>
              <a:t>Q2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64592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D3748"/>
                </a:solidFill>
              </a:defRPr>
            </a:pPr>
            <a:r>
              <a:t>MVP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748"/>
                </a:solidFill>
              </a:defRPr>
            </a:pPr>
            <a:r>
              <a:t>Smart contracts</a:t>
            </a:r>
          </a:p>
          <a:p>
            <a:pPr algn="ctr">
              <a:defRPr sz="1000">
                <a:solidFill>
                  <a:srgbClr val="2D3748"/>
                </a:solidFill>
              </a:defRPr>
            </a:pPr>
            <a:r>
              <a:t>Testnet beta</a:t>
            </a:r>
          </a:p>
        </p:txBody>
      </p:sp>
      <p:sp>
        <p:nvSpPr>
          <p:cNvPr id="10" name="Oval 9"/>
          <p:cNvSpPr/>
          <p:nvPr/>
        </p:nvSpPr>
        <p:spPr>
          <a:xfrm>
            <a:off x="3200400" y="1645920"/>
            <a:ext cx="274320" cy="27432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280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67EEA"/>
                </a:solidFill>
              </a:defRPr>
            </a:pPr>
            <a:r>
              <a:t>Q3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103120"/>
            <a:ext cx="164592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2860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D3748"/>
                </a:solidFill>
              </a:defRPr>
            </a:pPr>
            <a:r>
              <a:t>Mainnet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65176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748"/>
                </a:solidFill>
              </a:defRPr>
            </a:pPr>
            <a:r>
              <a:t>Public launch</a:t>
            </a:r>
          </a:p>
          <a:p>
            <a:pPr algn="ctr">
              <a:defRPr sz="1000">
                <a:solidFill>
                  <a:srgbClr val="2D3748"/>
                </a:solidFill>
              </a:defRPr>
            </a:pPr>
            <a:r>
              <a:t>1K users</a:t>
            </a:r>
          </a:p>
        </p:txBody>
      </p:sp>
      <p:sp>
        <p:nvSpPr>
          <p:cNvPr id="15" name="Oval 14"/>
          <p:cNvSpPr/>
          <p:nvPr/>
        </p:nvSpPr>
        <p:spPr>
          <a:xfrm>
            <a:off x="5212080" y="1645920"/>
            <a:ext cx="274320" cy="27432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280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67EEA"/>
                </a:solidFill>
              </a:defRPr>
            </a:pPr>
            <a:r>
              <a:t>Q4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103120"/>
            <a:ext cx="164592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D3748"/>
                </a:solidFill>
              </a:defRPr>
            </a:pPr>
            <a:r>
              <a:t>Token Launch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5176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748"/>
                </a:solidFill>
              </a:defRPr>
            </a:pPr>
            <a:r>
              <a:t>$LOTTO</a:t>
            </a:r>
          </a:p>
          <a:p>
            <a:pPr algn="ctr">
              <a:defRPr sz="1000">
                <a:solidFill>
                  <a:srgbClr val="2D3748"/>
                </a:solidFill>
              </a:defRPr>
            </a:pPr>
            <a:r>
              <a:t>10K users</a:t>
            </a:r>
          </a:p>
        </p:txBody>
      </p:sp>
      <p:sp>
        <p:nvSpPr>
          <p:cNvPr id="20" name="Oval 19"/>
          <p:cNvSpPr/>
          <p:nvPr/>
        </p:nvSpPr>
        <p:spPr>
          <a:xfrm>
            <a:off x="7223760" y="1645920"/>
            <a:ext cx="274320" cy="27432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280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67EEA"/>
                </a:solidFill>
              </a:defRPr>
            </a:pPr>
            <a:r>
              <a:t>2027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103120"/>
            <a:ext cx="164592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2860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D3748"/>
                </a:solidFill>
              </a:defRPr>
            </a:pPr>
            <a: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65176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748"/>
                </a:solidFill>
              </a:defRPr>
            </a:pPr>
            <a:r>
              <a:t>Multi-chain</a:t>
            </a:r>
          </a:p>
          <a:p>
            <a:pPr algn="ctr">
              <a:defRPr sz="1000">
                <a:solidFill>
                  <a:srgbClr val="2D3748"/>
                </a:solidFill>
              </a:defRPr>
            </a:pPr>
            <a:r>
              <a:t>250K users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1764792"/>
            <a:ext cx="75895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548640"/>
          </a:xfrm>
          <a:prstGeom prst="rect">
            <a:avLst/>
          </a:prstGeom>
          <a:solidFill>
            <a:srgbClr val="F7FAFC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3748"/>
                </a:solidFill>
              </a:defRPr>
            </a:pPr>
            <a:r>
              <a:t>Blockchain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2801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D3748"/>
                </a:solidFill>
              </a:defRPr>
            </a:pPr>
            <a:r>
              <a:t>Polygon PoS</a:t>
            </a:r>
          </a:p>
          <a:p>
            <a:pPr>
              <a:defRPr sz="900">
                <a:solidFill>
                  <a:srgbClr val="2D3748"/>
                </a:solidFill>
              </a:defRPr>
            </a:pPr>
            <a:r>
              <a:t>EVM Compatible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188720"/>
            <a:ext cx="2743200" cy="548640"/>
          </a:xfrm>
          <a:prstGeom prst="rect">
            <a:avLst/>
          </a:prstGeom>
          <a:solidFill>
            <a:srgbClr val="F7FAFC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2801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3748"/>
                </a:solidFill>
              </a:defRPr>
            </a:pPr>
            <a:r>
              <a:t>Randomness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2801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D3748"/>
                </a:solidFill>
              </a:defRPr>
            </a:pPr>
            <a:r>
              <a:t>Chainlink VRF v2</a:t>
            </a:r>
          </a:p>
          <a:p>
            <a:pPr>
              <a:defRPr sz="900">
                <a:solidFill>
                  <a:srgbClr val="2D3748"/>
                </a:solidFill>
              </a:defRPr>
            </a:pPr>
            <a:r>
              <a:t>Verifiable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2743200" cy="548640"/>
          </a:xfrm>
          <a:prstGeom prst="rect">
            <a:avLst/>
          </a:prstGeom>
          <a:solidFill>
            <a:srgbClr val="F7FAFC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3748"/>
                </a:solidFill>
              </a:defRPr>
            </a:pPr>
            <a:r>
              <a:t>Smart Contracts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2801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D3748"/>
                </a:solidFill>
              </a:defRPr>
            </a:pPr>
            <a:r>
              <a:t>Solidity 0.8.20+</a:t>
            </a:r>
          </a:p>
          <a:p>
            <a:pPr>
              <a:defRPr sz="900">
                <a:solidFill>
                  <a:srgbClr val="2D3748"/>
                </a:solidFill>
              </a:defRPr>
            </a:pPr>
            <a:r>
              <a:t>Audited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2743200" cy="548640"/>
          </a:xfrm>
          <a:prstGeom prst="rect">
            <a:avLst/>
          </a:prstGeom>
          <a:solidFill>
            <a:srgbClr val="F7FAFC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3748"/>
                </a:solidFill>
              </a:defRPr>
            </a:pPr>
            <a: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834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D3748"/>
                </a:solidFill>
              </a:defRPr>
            </a:pPr>
            <a:r>
              <a:t>Next.js + Web3</a:t>
            </a:r>
          </a:p>
          <a:p>
            <a:pPr>
              <a:defRPr sz="900">
                <a:solidFill>
                  <a:srgbClr val="2D3748"/>
                </a:solidFill>
              </a:defRPr>
            </a:pPr>
            <a:r>
              <a:t>Mobile-first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743200"/>
            <a:ext cx="2743200" cy="548640"/>
          </a:xfrm>
          <a:prstGeom prst="rect">
            <a:avLst/>
          </a:prstGeom>
          <a:solidFill>
            <a:srgbClr val="F7FAFC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834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3748"/>
                </a:solidFill>
              </a:defRPr>
            </a:pPr>
            <a:r>
              <a:t>NFT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834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D3748"/>
                </a:solidFill>
              </a:defRPr>
            </a:pPr>
            <a:r>
              <a:t>IPFS</a:t>
            </a:r>
          </a:p>
          <a:p>
            <a:pPr>
              <a:defRPr sz="900">
                <a:solidFill>
                  <a:srgbClr val="2D3748"/>
                </a:solidFill>
              </a:defRPr>
            </a:pPr>
            <a:r>
              <a:t>Decentralized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743200"/>
            <a:ext cx="2743200" cy="548640"/>
          </a:xfrm>
          <a:prstGeom prst="rect">
            <a:avLst/>
          </a:prstGeom>
          <a:solidFill>
            <a:srgbClr val="F7FAFC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834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3748"/>
                </a:solidFill>
              </a:defRPr>
            </a:pPr>
            <a:r>
              <a:t>Indexing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834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D3748"/>
                </a:solidFill>
              </a:defRPr>
            </a:pPr>
            <a:r>
              <a:t>The Graph</a:t>
            </a:r>
          </a:p>
          <a:p>
            <a:pPr>
              <a:defRPr sz="900">
                <a:solidFill>
                  <a:srgbClr val="2D3748"/>
                </a:solidFill>
              </a:defRPr>
            </a:pPr>
            <a:r>
              <a:t>Fast queries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WE 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194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🏆 35% Better Returns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371600"/>
            <a:ext cx="256032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554480"/>
            <a:ext cx="2194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⚡ Instant Settlements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256032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2194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🔐 Verifiable Fairness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256032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2194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🎨 NFT Collectibles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560320"/>
            <a:ext cx="256032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743200"/>
            <a:ext cx="2194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🌍 Global Market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560320"/>
            <a:ext cx="256032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743200"/>
            <a:ext cx="2194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🚀 First Mover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371600"/>
            <a:ext cx="5486400" cy="13716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1554480"/>
            <a:ext cx="51206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Raising $500K 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017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Development &amp;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3832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38327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Marketing &amp;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7490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74903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Legal &amp;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114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114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Operations &amp; Team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JOIN US IN</a:t>
            </a:r>
          </a:p>
          <a:p>
            <a:r>
              <a:t>REVOLUTIONIZING LOTTERIES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team@blocklotto.io</a:t>
            </a:r>
          </a:p>
          <a:p>
            <a:pPr algn="ctr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BlockLotto.io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